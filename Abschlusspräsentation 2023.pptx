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5c3d9f8c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5c3d9f8c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5c3d9f8cb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5c3d9f8cb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5c3d9f8cb0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5c3d9f8cb0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5c3d9f8cb0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5c3d9f8cb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5c3d9f8cb0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5c3d9f8cb0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5c3d9f8cb0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5c3d9f8cb0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5c7dbeb33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5c7dbeb33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0.jp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jpg"/><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hyperlink" Target="http://drive.google.com/file/d/1YTyt-hfCmBOfw-TD1e6mYS9omn1gSLrF/view" TargetMode="External"/><Relationship Id="rId4" Type="http://schemas.openxmlformats.org/officeDocument/2006/relationships/image" Target="../media/image5.jp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drive.google.com/file/d/1QI2_Rmu0SZCcIajv3ykjb0VL0odxCklI/view" TargetMode="External"/><Relationship Id="rId4" Type="http://schemas.openxmlformats.org/officeDocument/2006/relationships/image" Target="../media/image2.jpg"/><Relationship Id="rId5" Type="http://schemas.openxmlformats.org/officeDocument/2006/relationships/hyperlink" Target="http://drive.google.com/file/d/12aUSJPi5vnlnehfb1b8ZE-HUHW9TbbYk/view" TargetMode="External"/><Relationship Id="rId6" Type="http://schemas.openxmlformats.org/officeDocument/2006/relationships/image" Target="../media/image6.jpg"/><Relationship Id="rId7" Type="http://schemas.openxmlformats.org/officeDocument/2006/relationships/hyperlink" Target="http://drive.google.com/file/d/1zyitAGbBv_N2fPtQcTytLZalH8p6kmRI/view" TargetMode="External"/><Relationship Id="rId8"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idx="4294967295" type="subTitle"/>
          </p:nvPr>
        </p:nvSpPr>
        <p:spPr>
          <a:xfrm>
            <a:off x="311700" y="4025825"/>
            <a:ext cx="2265300" cy="324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440"/>
              <a:buNone/>
            </a:pPr>
            <a:r>
              <a:rPr lang="de" sz="1300">
                <a:latin typeface="Verdana"/>
                <a:ea typeface="Verdana"/>
                <a:cs typeface="Verdana"/>
                <a:sym typeface="Verdana"/>
              </a:rPr>
              <a:t>cooperation partners</a:t>
            </a:r>
            <a:endParaRPr sz="1300">
              <a:latin typeface="Verdana"/>
              <a:ea typeface="Verdana"/>
              <a:cs typeface="Verdana"/>
              <a:sym typeface="Verdana"/>
            </a:endParaRPr>
          </a:p>
        </p:txBody>
      </p:sp>
      <p:pic>
        <p:nvPicPr>
          <p:cNvPr id="55" name="Google Shape;55;p13"/>
          <p:cNvPicPr preferRelativeResize="0"/>
          <p:nvPr/>
        </p:nvPicPr>
        <p:blipFill>
          <a:blip r:embed="rId3">
            <a:alphaModFix/>
          </a:blip>
          <a:stretch>
            <a:fillRect/>
          </a:stretch>
        </p:blipFill>
        <p:spPr>
          <a:xfrm>
            <a:off x="6946524" y="4410737"/>
            <a:ext cx="1932698" cy="437874"/>
          </a:xfrm>
          <a:prstGeom prst="rect">
            <a:avLst/>
          </a:prstGeom>
          <a:noFill/>
          <a:ln>
            <a:noFill/>
          </a:ln>
        </p:spPr>
      </p:pic>
      <p:pic>
        <p:nvPicPr>
          <p:cNvPr id="56" name="Google Shape;56;p13"/>
          <p:cNvPicPr preferRelativeResize="0"/>
          <p:nvPr/>
        </p:nvPicPr>
        <p:blipFill>
          <a:blip r:embed="rId4">
            <a:alphaModFix/>
          </a:blip>
          <a:stretch>
            <a:fillRect/>
          </a:stretch>
        </p:blipFill>
        <p:spPr>
          <a:xfrm>
            <a:off x="1324078" y="4506728"/>
            <a:ext cx="1613850" cy="245875"/>
          </a:xfrm>
          <a:prstGeom prst="rect">
            <a:avLst/>
          </a:prstGeom>
          <a:noFill/>
          <a:ln>
            <a:noFill/>
          </a:ln>
        </p:spPr>
      </p:pic>
      <p:pic>
        <p:nvPicPr>
          <p:cNvPr id="57" name="Google Shape;57;p13"/>
          <p:cNvPicPr preferRelativeResize="0"/>
          <p:nvPr/>
        </p:nvPicPr>
        <p:blipFill>
          <a:blip r:embed="rId5">
            <a:alphaModFix/>
          </a:blip>
          <a:stretch>
            <a:fillRect/>
          </a:stretch>
        </p:blipFill>
        <p:spPr>
          <a:xfrm>
            <a:off x="1871663" y="1762125"/>
            <a:ext cx="5400675" cy="1619250"/>
          </a:xfrm>
          <a:prstGeom prst="rect">
            <a:avLst/>
          </a:prstGeom>
          <a:noFill/>
          <a:ln>
            <a:noFill/>
          </a:ln>
        </p:spPr>
      </p:pic>
      <p:sp>
        <p:nvSpPr>
          <p:cNvPr id="58" name="Google Shape;58;p13"/>
          <p:cNvSpPr txBox="1"/>
          <p:nvPr/>
        </p:nvSpPr>
        <p:spPr>
          <a:xfrm>
            <a:off x="5993750" y="4025825"/>
            <a:ext cx="187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300">
                <a:solidFill>
                  <a:schemeClr val="dk2"/>
                </a:solidFill>
                <a:latin typeface="Verdana"/>
                <a:ea typeface="Verdana"/>
                <a:cs typeface="Verdana"/>
                <a:sym typeface="Verdana"/>
              </a:rPr>
              <a:t>powered by</a:t>
            </a:r>
            <a:endParaRPr sz="1300">
              <a:solidFill>
                <a:schemeClr val="dk2"/>
              </a:solidFill>
              <a:latin typeface="Verdana"/>
              <a:ea typeface="Verdana"/>
              <a:cs typeface="Verdana"/>
              <a:sym typeface="Verdana"/>
            </a:endParaRPr>
          </a:p>
        </p:txBody>
      </p:sp>
      <p:pic>
        <p:nvPicPr>
          <p:cNvPr id="59" name="Google Shape;59;p13"/>
          <p:cNvPicPr preferRelativeResize="0"/>
          <p:nvPr/>
        </p:nvPicPr>
        <p:blipFill>
          <a:blip r:embed="rId6">
            <a:alphaModFix/>
          </a:blip>
          <a:stretch>
            <a:fillRect/>
          </a:stretch>
        </p:blipFill>
        <p:spPr>
          <a:xfrm>
            <a:off x="6091972" y="4400225"/>
            <a:ext cx="463453" cy="458875"/>
          </a:xfrm>
          <a:prstGeom prst="rect">
            <a:avLst/>
          </a:prstGeom>
          <a:noFill/>
          <a:ln>
            <a:noFill/>
          </a:ln>
        </p:spPr>
      </p:pic>
      <p:pic>
        <p:nvPicPr>
          <p:cNvPr id="60" name="Google Shape;60;p13"/>
          <p:cNvPicPr preferRelativeResize="0"/>
          <p:nvPr/>
        </p:nvPicPr>
        <p:blipFill>
          <a:blip r:embed="rId7">
            <a:alphaModFix/>
          </a:blip>
          <a:stretch>
            <a:fillRect/>
          </a:stretch>
        </p:blipFill>
        <p:spPr>
          <a:xfrm>
            <a:off x="404375" y="4506725"/>
            <a:ext cx="754975" cy="245875"/>
          </a:xfrm>
          <a:prstGeom prst="rect">
            <a:avLst/>
          </a:prstGeom>
          <a:noFill/>
          <a:ln>
            <a:noFill/>
          </a:ln>
        </p:spPr>
      </p:pic>
      <p:pic>
        <p:nvPicPr>
          <p:cNvPr id="61" name="Google Shape;61;p13"/>
          <p:cNvPicPr preferRelativeResize="0"/>
          <p:nvPr/>
        </p:nvPicPr>
        <p:blipFill>
          <a:blip r:embed="rId8">
            <a:alphaModFix/>
          </a:blip>
          <a:stretch>
            <a:fillRect/>
          </a:stretch>
        </p:blipFill>
        <p:spPr>
          <a:xfrm>
            <a:off x="3003548" y="4397948"/>
            <a:ext cx="463450" cy="463450"/>
          </a:xfrm>
          <a:prstGeom prst="rect">
            <a:avLst/>
          </a:prstGeom>
          <a:noFill/>
          <a:ln>
            <a:noFill/>
          </a:ln>
        </p:spPr>
      </p:pic>
      <p:pic>
        <p:nvPicPr>
          <p:cNvPr id="62" name="Google Shape;62;p13"/>
          <p:cNvPicPr preferRelativeResize="0"/>
          <p:nvPr/>
        </p:nvPicPr>
        <p:blipFill>
          <a:blip r:embed="rId9">
            <a:alphaModFix/>
          </a:blip>
          <a:stretch>
            <a:fillRect/>
          </a:stretch>
        </p:blipFill>
        <p:spPr>
          <a:xfrm>
            <a:off x="321423" y="275153"/>
            <a:ext cx="4081235" cy="1121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 name="Shape 66"/>
        <p:cNvGrpSpPr/>
        <p:nvPr/>
      </p:nvGrpSpPr>
      <p:grpSpPr>
        <a:xfrm>
          <a:off x="0" y="0"/>
          <a:ext cx="0" cy="0"/>
          <a:chOff x="0" y="0"/>
          <a:chExt cx="0" cy="0"/>
        </a:xfrm>
      </p:grpSpPr>
      <p:sp>
        <p:nvSpPr>
          <p:cNvPr id="67" name="Google Shape;67;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68" name="Google Shape;68;p14"/>
          <p:cNvSpPr txBox="1"/>
          <p:nvPr>
            <p:ph idx="1" type="subTitle"/>
          </p:nvPr>
        </p:nvSpPr>
        <p:spPr>
          <a:xfrm>
            <a:off x="203400" y="1623625"/>
            <a:ext cx="4169400" cy="18960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0"/>
              </a:spcBef>
              <a:spcAft>
                <a:spcPts val="0"/>
              </a:spcAft>
              <a:buNone/>
            </a:pPr>
            <a:r>
              <a:rPr lang="de" sz="6000">
                <a:solidFill>
                  <a:schemeClr val="lt1"/>
                </a:solidFill>
                <a:latin typeface="Verdana"/>
                <a:ea typeface="Verdana"/>
                <a:cs typeface="Verdana"/>
                <a:sym typeface="Verdana"/>
              </a:rPr>
              <a:t>10</a:t>
            </a:r>
            <a:r>
              <a:rPr lang="de" sz="6000">
                <a:solidFill>
                  <a:schemeClr val="lt1"/>
                </a:solidFill>
                <a:latin typeface="Verdana"/>
                <a:ea typeface="Verdana"/>
                <a:cs typeface="Verdana"/>
                <a:sym typeface="Verdana"/>
              </a:rPr>
              <a:t> Internationale Künstler*innen</a:t>
            </a:r>
            <a:endParaRPr sz="6000">
              <a:solidFill>
                <a:schemeClr val="lt1"/>
              </a:solidFill>
              <a:latin typeface="Verdana"/>
              <a:ea typeface="Verdana"/>
              <a:cs typeface="Verdana"/>
              <a:sym typeface="Verdana"/>
            </a:endParaRPr>
          </a:p>
          <a:p>
            <a:pPr indent="0" lvl="0" marL="0" rtl="0" algn="l">
              <a:lnSpc>
                <a:spcPct val="150000"/>
              </a:lnSpc>
              <a:spcBef>
                <a:spcPts val="0"/>
              </a:spcBef>
              <a:spcAft>
                <a:spcPts val="0"/>
              </a:spcAft>
              <a:buNone/>
            </a:pPr>
            <a:r>
              <a:rPr lang="de" sz="6000">
                <a:solidFill>
                  <a:schemeClr val="lt1"/>
                </a:solidFill>
                <a:latin typeface="Verdana"/>
                <a:ea typeface="Verdana"/>
                <a:cs typeface="Verdana"/>
                <a:sym typeface="Verdana"/>
              </a:rPr>
              <a:t>10 Monitore</a:t>
            </a:r>
            <a:endParaRPr sz="9200">
              <a:solidFill>
                <a:schemeClr val="lt1"/>
              </a:solidFill>
              <a:latin typeface="Verdana"/>
              <a:ea typeface="Verdana"/>
              <a:cs typeface="Verdana"/>
              <a:sym typeface="Verdana"/>
            </a:endParaRPr>
          </a:p>
          <a:p>
            <a:pPr indent="0" lvl="0" marL="0" rtl="0" algn="l">
              <a:lnSpc>
                <a:spcPct val="150000"/>
              </a:lnSpc>
              <a:spcBef>
                <a:spcPts val="0"/>
              </a:spcBef>
              <a:spcAft>
                <a:spcPts val="0"/>
              </a:spcAft>
              <a:buNone/>
            </a:pPr>
            <a:r>
              <a:rPr lang="de" sz="6000">
                <a:solidFill>
                  <a:schemeClr val="lt1"/>
                </a:solidFill>
                <a:latin typeface="Verdana"/>
                <a:ea typeface="Verdana"/>
                <a:cs typeface="Verdana"/>
                <a:sym typeface="Verdana"/>
              </a:rPr>
              <a:t>über 28.000 Besucher*innen</a:t>
            </a:r>
            <a:endParaRPr sz="6000">
              <a:solidFill>
                <a:schemeClr val="lt1"/>
              </a:solidFill>
              <a:latin typeface="Verdana"/>
              <a:ea typeface="Verdana"/>
              <a:cs typeface="Verdana"/>
              <a:sym typeface="Verdana"/>
            </a:endParaRPr>
          </a:p>
          <a:p>
            <a:pPr indent="0" lvl="0" marL="0" rtl="0" algn="l">
              <a:lnSpc>
                <a:spcPct val="150000"/>
              </a:lnSpc>
              <a:spcBef>
                <a:spcPts val="0"/>
              </a:spcBef>
              <a:spcAft>
                <a:spcPts val="0"/>
              </a:spcAft>
              <a:buNone/>
            </a:pPr>
            <a:r>
              <a:rPr lang="de" sz="6000">
                <a:solidFill>
                  <a:schemeClr val="lt1"/>
                </a:solidFill>
                <a:latin typeface="Verdana"/>
                <a:ea typeface="Verdana"/>
                <a:cs typeface="Verdana"/>
                <a:sym typeface="Verdana"/>
              </a:rPr>
              <a:t>über 4000 eingeladene Sammler*innen</a:t>
            </a:r>
            <a:endParaRPr sz="6000">
              <a:solidFill>
                <a:schemeClr val="lt1"/>
              </a:solidFill>
              <a:latin typeface="Verdana"/>
              <a:ea typeface="Verdana"/>
              <a:cs typeface="Verdana"/>
              <a:sym typeface="Verdana"/>
            </a:endParaRPr>
          </a:p>
          <a:p>
            <a:pPr indent="0" lvl="0" marL="0" rtl="0" algn="l">
              <a:lnSpc>
                <a:spcPct val="150000"/>
              </a:lnSpc>
              <a:spcBef>
                <a:spcPts val="0"/>
              </a:spcBef>
              <a:spcAft>
                <a:spcPts val="0"/>
              </a:spcAft>
              <a:buNone/>
            </a:pPr>
            <a:r>
              <a:rPr lang="de" sz="6000">
                <a:solidFill>
                  <a:schemeClr val="lt1"/>
                </a:solidFill>
                <a:latin typeface="Verdana"/>
                <a:ea typeface="Verdana"/>
                <a:cs typeface="Verdana"/>
                <a:sym typeface="Verdana"/>
              </a:rPr>
              <a:t>10 Jähriges Jubiläum</a:t>
            </a:r>
            <a:endParaRPr sz="6000">
              <a:solidFill>
                <a:schemeClr val="lt1"/>
              </a:solidFill>
              <a:latin typeface="Verdana"/>
              <a:ea typeface="Verdana"/>
              <a:cs typeface="Verdana"/>
              <a:sym typeface="Verdana"/>
            </a:endParaRPr>
          </a:p>
          <a:p>
            <a:pPr indent="0" lvl="0" marL="0" rtl="0" algn="l">
              <a:spcBef>
                <a:spcPts val="0"/>
              </a:spcBef>
              <a:spcAft>
                <a:spcPts val="0"/>
              </a:spcAft>
              <a:buNone/>
            </a:pPr>
            <a:r>
              <a:t/>
            </a:r>
            <a:endParaRPr sz="2000">
              <a:solidFill>
                <a:schemeClr val="lt1"/>
              </a:solidFill>
              <a:latin typeface="Verdana"/>
              <a:ea typeface="Verdana"/>
              <a:cs typeface="Verdana"/>
              <a:sym typeface="Verdana"/>
            </a:endParaRPr>
          </a:p>
        </p:txBody>
      </p:sp>
      <p:sp>
        <p:nvSpPr>
          <p:cNvPr id="69" name="Google Shape;69;p1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a:p>
        </p:txBody>
      </p:sp>
      <p:sp>
        <p:nvSpPr>
          <p:cNvPr id="70" name="Google Shape;70;p14"/>
          <p:cNvSpPr txBox="1"/>
          <p:nvPr/>
        </p:nvSpPr>
        <p:spPr>
          <a:xfrm>
            <a:off x="2202000" y="4419175"/>
            <a:ext cx="21087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de" sz="1200">
                <a:solidFill>
                  <a:schemeClr val="lt1"/>
                </a:solidFill>
                <a:latin typeface="Verdana"/>
                <a:ea typeface="Verdana"/>
                <a:cs typeface="Verdana"/>
                <a:sym typeface="Verdana"/>
              </a:rPr>
              <a:t>am Hangar 6, Stand S01</a:t>
            </a:r>
            <a:endParaRPr sz="800">
              <a:solidFill>
                <a:schemeClr val="lt1"/>
              </a:solidFill>
              <a:latin typeface="Verdana"/>
              <a:ea typeface="Verdana"/>
              <a:cs typeface="Verdana"/>
              <a:sym typeface="Verdana"/>
            </a:endParaRPr>
          </a:p>
        </p:txBody>
      </p:sp>
      <p:pic>
        <p:nvPicPr>
          <p:cNvPr id="71" name="Google Shape;71;p14"/>
          <p:cNvPicPr preferRelativeResize="0"/>
          <p:nvPr/>
        </p:nvPicPr>
        <p:blipFill rotWithShape="1">
          <a:blip r:embed="rId3">
            <a:alphaModFix/>
          </a:blip>
          <a:srcRect b="0" l="0" r="0" t="24557"/>
          <a:stretch/>
        </p:blipFill>
        <p:spPr>
          <a:xfrm>
            <a:off x="4572000" y="0"/>
            <a:ext cx="4571999" cy="51753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latin typeface="Verdana"/>
                <a:ea typeface="Verdana"/>
                <a:cs typeface="Verdana"/>
                <a:sym typeface="Verdana"/>
              </a:rPr>
              <a:t>BESUCHERWIRKSAMKEIT</a:t>
            </a:r>
            <a:endParaRPr>
              <a:latin typeface="Verdana"/>
              <a:ea typeface="Verdana"/>
              <a:cs typeface="Verdana"/>
              <a:sym typeface="Verdana"/>
            </a:endParaRPr>
          </a:p>
        </p:txBody>
      </p:sp>
      <p:sp>
        <p:nvSpPr>
          <p:cNvPr id="77" name="Google Shape;77;p15"/>
          <p:cNvSpPr txBox="1"/>
          <p:nvPr>
            <p:ph idx="1" type="body"/>
          </p:nvPr>
        </p:nvSpPr>
        <p:spPr>
          <a:xfrm>
            <a:off x="311700" y="1335553"/>
            <a:ext cx="4260300" cy="324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de" sz="900">
                <a:solidFill>
                  <a:schemeClr val="dk1"/>
                </a:solidFill>
                <a:latin typeface="Verdana"/>
                <a:ea typeface="Verdana"/>
                <a:cs typeface="Verdana"/>
                <a:sym typeface="Verdana"/>
              </a:rPr>
              <a:t>Die POSITIONS Berlin Art Fair findet jährlich im Rahmen der Berlin Art Week statt, die </a:t>
            </a:r>
            <a:r>
              <a:rPr lang="de" sz="900" u="sng">
                <a:solidFill>
                  <a:schemeClr val="dk1"/>
                </a:solidFill>
                <a:latin typeface="Verdana"/>
                <a:ea typeface="Verdana"/>
                <a:cs typeface="Verdana"/>
                <a:sym typeface="Verdana"/>
              </a:rPr>
              <a:t>über 120.000 nationale </a:t>
            </a:r>
            <a:r>
              <a:rPr lang="de" sz="900">
                <a:solidFill>
                  <a:schemeClr val="dk1"/>
                </a:solidFill>
                <a:latin typeface="Verdana"/>
                <a:ea typeface="Verdana"/>
                <a:cs typeface="Verdana"/>
                <a:sym typeface="Verdana"/>
              </a:rPr>
              <a:t>und</a:t>
            </a:r>
            <a:r>
              <a:rPr lang="de" sz="900" u="sng">
                <a:solidFill>
                  <a:schemeClr val="dk1"/>
                </a:solidFill>
                <a:latin typeface="Verdana"/>
                <a:ea typeface="Verdana"/>
                <a:cs typeface="Verdana"/>
                <a:sym typeface="Verdana"/>
              </a:rPr>
              <a:t> internationale Besucher*innen</a:t>
            </a:r>
            <a:r>
              <a:rPr lang="de" sz="900">
                <a:solidFill>
                  <a:schemeClr val="dk1"/>
                </a:solidFill>
                <a:latin typeface="Verdana"/>
                <a:ea typeface="Verdana"/>
                <a:cs typeface="Verdana"/>
                <a:sym typeface="Verdana"/>
              </a:rPr>
              <a:t> anlockt. Durch die Messe wird nicht nur die Kunst-und Kreativszene der Hauptstadt sichtbar gemacht, sondern auch ein internationales und kaufinteressiertes Publikum mit starker Affinität zu Kunst, Design, Mode und Gestaltung weit über die Grenzen Berlins und Deutschlands hinaus angesprochen. Die Besucher*innen setzen sich aus einem kaufkräftigen und kulturaffinen Klientel von </a:t>
            </a:r>
            <a:r>
              <a:rPr lang="de" sz="900" u="sng">
                <a:solidFill>
                  <a:schemeClr val="dk1"/>
                </a:solidFill>
                <a:latin typeface="Verdana"/>
                <a:ea typeface="Verdana"/>
                <a:cs typeface="Verdana"/>
                <a:sym typeface="Verdana"/>
              </a:rPr>
              <a:t>Sammler:innen, Manager:innen</a:t>
            </a:r>
            <a:r>
              <a:rPr lang="de" sz="900">
                <a:solidFill>
                  <a:schemeClr val="dk1"/>
                </a:solidFill>
                <a:latin typeface="Verdana"/>
                <a:ea typeface="Verdana"/>
                <a:cs typeface="Verdana"/>
                <a:sym typeface="Verdana"/>
              </a:rPr>
              <a:t> und </a:t>
            </a:r>
            <a:r>
              <a:rPr lang="de" sz="900" u="sng">
                <a:solidFill>
                  <a:schemeClr val="dk1"/>
                </a:solidFill>
                <a:latin typeface="Verdana"/>
                <a:ea typeface="Verdana"/>
                <a:cs typeface="Verdana"/>
                <a:sym typeface="Verdana"/>
              </a:rPr>
              <a:t>Multiplikator:innen aus Kultur, Politik, Wirtschaft und Medien</a:t>
            </a:r>
            <a:r>
              <a:rPr lang="de" sz="900">
                <a:solidFill>
                  <a:schemeClr val="dk1"/>
                </a:solidFill>
                <a:latin typeface="Verdana"/>
                <a:ea typeface="Verdana"/>
                <a:cs typeface="Verdana"/>
                <a:sym typeface="Verdana"/>
              </a:rPr>
              <a:t> zusammen. Hauptsächlich kann man ihren sozialen und ökonomischen Hintergrund dem Liberal-Intellektuellen Milieu, dem Sozialökologischen Milieu und dem Milieu der Performer:innen zuordnen.</a:t>
            </a:r>
            <a:endParaRPr sz="900">
              <a:solidFill>
                <a:schemeClr val="dk1"/>
              </a:solidFill>
              <a:latin typeface="Verdana"/>
              <a:ea typeface="Verdana"/>
              <a:cs typeface="Verdana"/>
              <a:sym typeface="Verdana"/>
            </a:endParaRPr>
          </a:p>
          <a:p>
            <a:pPr indent="0" lvl="0" marL="0" rtl="0" algn="l">
              <a:spcBef>
                <a:spcPts val="1200"/>
              </a:spcBef>
              <a:spcAft>
                <a:spcPts val="1200"/>
              </a:spcAft>
              <a:buNone/>
            </a:pPr>
            <a:r>
              <a:rPr lang="de" sz="900">
                <a:solidFill>
                  <a:schemeClr val="dk1"/>
                </a:solidFill>
                <a:latin typeface="Verdana"/>
                <a:ea typeface="Verdana"/>
                <a:cs typeface="Verdana"/>
                <a:sym typeface="Verdana"/>
              </a:rPr>
              <a:t>Die Messe selbst, lädt über 4000 international bekannte Sammler:innen zum exklusiven Besuch der Veranstaltung ein. Dazu kommen die VIP-Gäste wie Botschafter:innen, Politiker:innen sowie wichtige Persönlichkeiten aus Kultur und Wirtschaft. Auch die Galerien verfügen über ein Kontingent an VIP-Einladungen, die Sie an Ihre besten Sammler:innen versenden. </a:t>
            </a:r>
            <a:endParaRPr sz="900">
              <a:solidFill>
                <a:schemeClr val="dk1"/>
              </a:solidFill>
              <a:latin typeface="Verdana"/>
              <a:ea typeface="Verdana"/>
              <a:cs typeface="Verdana"/>
              <a:sym typeface="Verdana"/>
            </a:endParaRPr>
          </a:p>
        </p:txBody>
      </p:sp>
      <p:pic>
        <p:nvPicPr>
          <p:cNvPr id="78" name="Google Shape;78;p15"/>
          <p:cNvPicPr preferRelativeResize="0"/>
          <p:nvPr/>
        </p:nvPicPr>
        <p:blipFill>
          <a:blip r:embed="rId3">
            <a:alphaModFix/>
          </a:blip>
          <a:stretch>
            <a:fillRect/>
          </a:stretch>
        </p:blipFill>
        <p:spPr>
          <a:xfrm>
            <a:off x="4654375" y="1739250"/>
            <a:ext cx="4267203" cy="28441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283400" y="228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latin typeface="Verdana"/>
                <a:ea typeface="Verdana"/>
                <a:cs typeface="Verdana"/>
                <a:sym typeface="Verdana"/>
              </a:rPr>
              <a:t>MEDIENWIRKSAMKEIT</a:t>
            </a:r>
            <a:endParaRPr>
              <a:latin typeface="Verdana"/>
              <a:ea typeface="Verdana"/>
              <a:cs typeface="Verdana"/>
              <a:sym typeface="Verdana"/>
            </a:endParaRPr>
          </a:p>
        </p:txBody>
      </p:sp>
      <p:sp>
        <p:nvSpPr>
          <p:cNvPr id="84" name="Google Shape;84;p16"/>
          <p:cNvSpPr txBox="1"/>
          <p:nvPr>
            <p:ph idx="1" type="body"/>
          </p:nvPr>
        </p:nvSpPr>
        <p:spPr>
          <a:xfrm>
            <a:off x="311700" y="1963863"/>
            <a:ext cx="4260300" cy="2291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de" sz="900">
                <a:solidFill>
                  <a:schemeClr val="dk1"/>
                </a:solidFill>
                <a:latin typeface="Verdana"/>
                <a:ea typeface="Verdana"/>
                <a:cs typeface="Verdana"/>
                <a:sym typeface="Verdana"/>
              </a:rPr>
              <a:t>Die mediale Strahlkraft der POSITIONS Berlin Art Fair reicht weit über den deutschsprachigen Raum hinaus und hat sich zu einer </a:t>
            </a:r>
            <a:r>
              <a:rPr lang="de" sz="900" u="sng">
                <a:solidFill>
                  <a:schemeClr val="dk1"/>
                </a:solidFill>
                <a:latin typeface="Verdana"/>
                <a:ea typeface="Verdana"/>
                <a:cs typeface="Verdana"/>
                <a:sym typeface="Verdana"/>
              </a:rPr>
              <a:t>überregionalen Kulturmarke</a:t>
            </a:r>
            <a:r>
              <a:rPr lang="de" sz="900">
                <a:solidFill>
                  <a:schemeClr val="dk1"/>
                </a:solidFill>
                <a:latin typeface="Verdana"/>
                <a:ea typeface="Verdana"/>
                <a:cs typeface="Verdana"/>
                <a:sym typeface="Verdana"/>
              </a:rPr>
              <a:t> entwickelt und etabliert. Besonders hervorzuheben, sind die </a:t>
            </a:r>
            <a:r>
              <a:rPr lang="de" sz="900" u="sng">
                <a:solidFill>
                  <a:schemeClr val="dk1"/>
                </a:solidFill>
                <a:latin typeface="Verdana"/>
                <a:ea typeface="Verdana"/>
                <a:cs typeface="Verdana"/>
                <a:sym typeface="Verdana"/>
              </a:rPr>
              <a:t>vielseitigen digitalen Formate</a:t>
            </a:r>
            <a:r>
              <a:rPr lang="de" sz="900">
                <a:solidFill>
                  <a:schemeClr val="dk1"/>
                </a:solidFill>
                <a:latin typeface="Verdana"/>
                <a:ea typeface="Verdana"/>
                <a:cs typeface="Verdana"/>
                <a:sym typeface="Verdana"/>
              </a:rPr>
              <a:t> und </a:t>
            </a:r>
            <a:r>
              <a:rPr lang="de" sz="900" u="sng">
                <a:solidFill>
                  <a:schemeClr val="dk1"/>
                </a:solidFill>
                <a:latin typeface="Verdana"/>
                <a:ea typeface="Verdana"/>
                <a:cs typeface="Verdana"/>
                <a:sym typeface="Verdana"/>
              </a:rPr>
              <a:t>Social Media Aktivitäten</a:t>
            </a:r>
            <a:r>
              <a:rPr lang="de" sz="900">
                <a:solidFill>
                  <a:schemeClr val="dk1"/>
                </a:solidFill>
                <a:latin typeface="Verdana"/>
                <a:ea typeface="Verdana"/>
                <a:cs typeface="Verdana"/>
                <a:sym typeface="Verdana"/>
              </a:rPr>
              <a:t>, mit denen die POSITIONS als Pionier agiert. Die Entwicklung und Umsetzung einer innovativen Digitalstrategie ist bei der POSITIONS eine Selbstverständlichkeit und wird mit hoher Priorität verfolgt. Somit gehört das Marketing über spezifische Facebook- und Instagramformate und </a:t>
            </a:r>
            <a:r>
              <a:rPr lang="de" sz="900" u="sng">
                <a:solidFill>
                  <a:schemeClr val="dk1"/>
                </a:solidFill>
                <a:latin typeface="Verdana"/>
                <a:ea typeface="Verdana"/>
                <a:cs typeface="Verdana"/>
                <a:sym typeface="Verdana"/>
              </a:rPr>
              <a:t>Online‐Viewing-Rooms</a:t>
            </a:r>
            <a:r>
              <a:rPr lang="de" sz="900">
                <a:solidFill>
                  <a:schemeClr val="dk1"/>
                </a:solidFill>
                <a:latin typeface="Verdana"/>
                <a:ea typeface="Verdana"/>
                <a:cs typeface="Verdana"/>
                <a:sym typeface="Verdana"/>
              </a:rPr>
              <a:t> ebenso zum festen Bestandteil der Arbeit. Mit einer kontinuierlichen Werbepräsenz erzielt die POSITIONS über Plakatkampagnen, Printprodukte, mobiler Werbung, Messe- und Ausstellungspräsenz, sowie lebendigem Storytelling in den sozialen Medien eine jährliche Bruttowerbereichweite von </a:t>
            </a:r>
            <a:r>
              <a:rPr lang="de" sz="900" u="sng">
                <a:solidFill>
                  <a:schemeClr val="dk1"/>
                </a:solidFill>
                <a:latin typeface="Verdana"/>
                <a:ea typeface="Verdana"/>
                <a:cs typeface="Verdana"/>
                <a:sym typeface="Verdana"/>
              </a:rPr>
              <a:t>über 6,5 Millionen Kontakten</a:t>
            </a:r>
            <a:r>
              <a:rPr lang="de" sz="900">
                <a:solidFill>
                  <a:schemeClr val="dk1"/>
                </a:solidFill>
                <a:latin typeface="Verdana"/>
                <a:ea typeface="Verdana"/>
                <a:cs typeface="Verdana"/>
                <a:sym typeface="Verdana"/>
              </a:rPr>
              <a:t>.</a:t>
            </a:r>
            <a:endParaRPr sz="900">
              <a:latin typeface="Verdana"/>
              <a:ea typeface="Verdana"/>
              <a:cs typeface="Verdana"/>
              <a:sym typeface="Verdana"/>
            </a:endParaRPr>
          </a:p>
        </p:txBody>
      </p:sp>
      <p:pic>
        <p:nvPicPr>
          <p:cNvPr id="85" name="Google Shape;85;p16"/>
          <p:cNvPicPr preferRelativeResize="0"/>
          <p:nvPr/>
        </p:nvPicPr>
        <p:blipFill>
          <a:blip r:embed="rId3">
            <a:alphaModFix/>
          </a:blip>
          <a:stretch>
            <a:fillRect/>
          </a:stretch>
        </p:blipFill>
        <p:spPr>
          <a:xfrm>
            <a:off x="4635300" y="1411475"/>
            <a:ext cx="4267203" cy="284410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235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latin typeface="Verdana"/>
                <a:ea typeface="Verdana"/>
                <a:cs typeface="Verdana"/>
                <a:sym typeface="Verdana"/>
              </a:rPr>
              <a:t>AUSSTELLERSTRUKTUR</a:t>
            </a:r>
            <a:endParaRPr>
              <a:latin typeface="Verdana"/>
              <a:ea typeface="Verdana"/>
              <a:cs typeface="Verdana"/>
              <a:sym typeface="Verdana"/>
            </a:endParaRPr>
          </a:p>
        </p:txBody>
      </p:sp>
      <p:sp>
        <p:nvSpPr>
          <p:cNvPr id="91" name="Google Shape;91;p17"/>
          <p:cNvSpPr txBox="1"/>
          <p:nvPr>
            <p:ph idx="1" type="body"/>
          </p:nvPr>
        </p:nvSpPr>
        <p:spPr>
          <a:xfrm>
            <a:off x="4471800" y="808350"/>
            <a:ext cx="3999300" cy="181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35"/>
              <a:buNone/>
            </a:pPr>
            <a:r>
              <a:rPr lang="de" sz="900">
                <a:solidFill>
                  <a:schemeClr val="dk1"/>
                </a:solidFill>
                <a:latin typeface="Verdana"/>
                <a:ea typeface="Verdana"/>
                <a:cs typeface="Verdana"/>
                <a:sym typeface="Verdana"/>
              </a:rPr>
              <a:t>Die POSITIONS Berlin Art Fair 2023 steht mit </a:t>
            </a:r>
            <a:r>
              <a:rPr lang="de" sz="900" u="sng">
                <a:solidFill>
                  <a:schemeClr val="dk1"/>
                </a:solidFill>
                <a:latin typeface="Verdana"/>
                <a:ea typeface="Verdana"/>
                <a:cs typeface="Verdana"/>
                <a:sym typeface="Verdana"/>
              </a:rPr>
              <a:t>100 teilnehmenden Galerien aus 20 Ländern</a:t>
            </a:r>
            <a:r>
              <a:rPr lang="de" sz="900">
                <a:solidFill>
                  <a:schemeClr val="dk1"/>
                </a:solidFill>
                <a:latin typeface="Verdana"/>
                <a:ea typeface="Verdana"/>
                <a:cs typeface="Verdana"/>
                <a:sym typeface="Verdana"/>
              </a:rPr>
              <a:t> von allen Kontinenten für ein starkes und internationales Teilnehmerfeld, welches repräsentativ für den aktuellen Kunstmarkt steht. Neben etablierten künstlerischen Positionen sind auch aufstrebende Talente zu entdecken. Gezeigt wird zeitgenössische und moderne Kunst.</a:t>
            </a:r>
            <a:endParaRPr sz="900">
              <a:solidFill>
                <a:schemeClr val="dk1"/>
              </a:solidFill>
              <a:latin typeface="Verdana"/>
              <a:ea typeface="Verdana"/>
              <a:cs typeface="Verdana"/>
              <a:sym typeface="Verdana"/>
            </a:endParaRPr>
          </a:p>
          <a:p>
            <a:pPr indent="0" lvl="0" marL="0" rtl="0" algn="l">
              <a:lnSpc>
                <a:spcPct val="115000"/>
              </a:lnSpc>
              <a:spcBef>
                <a:spcPts val="1200"/>
              </a:spcBef>
              <a:spcAft>
                <a:spcPts val="1200"/>
              </a:spcAft>
              <a:buSzPts val="935"/>
              <a:buNone/>
            </a:pPr>
            <a:r>
              <a:t/>
            </a:r>
            <a:endParaRPr sz="900">
              <a:solidFill>
                <a:schemeClr val="dk1"/>
              </a:solidFill>
              <a:latin typeface="Verdana"/>
              <a:ea typeface="Verdana"/>
              <a:cs typeface="Verdana"/>
              <a:sym typeface="Verdana"/>
            </a:endParaRPr>
          </a:p>
        </p:txBody>
      </p:sp>
      <p:pic>
        <p:nvPicPr>
          <p:cNvPr id="92" name="Google Shape;92;p17"/>
          <p:cNvPicPr preferRelativeResize="0"/>
          <p:nvPr/>
        </p:nvPicPr>
        <p:blipFill>
          <a:blip r:embed="rId3">
            <a:alphaModFix/>
          </a:blip>
          <a:stretch>
            <a:fillRect/>
          </a:stretch>
        </p:blipFill>
        <p:spPr>
          <a:xfrm>
            <a:off x="4572000" y="1949700"/>
            <a:ext cx="3899023" cy="2924275"/>
          </a:xfrm>
          <a:prstGeom prst="rect">
            <a:avLst/>
          </a:prstGeom>
          <a:noFill/>
          <a:ln>
            <a:noFill/>
          </a:ln>
        </p:spPr>
      </p:pic>
      <p:pic>
        <p:nvPicPr>
          <p:cNvPr id="93" name="Google Shape;93;p17"/>
          <p:cNvPicPr preferRelativeResize="0"/>
          <p:nvPr/>
        </p:nvPicPr>
        <p:blipFill>
          <a:blip r:embed="rId4">
            <a:alphaModFix/>
          </a:blip>
          <a:stretch>
            <a:fillRect/>
          </a:stretch>
        </p:blipFill>
        <p:spPr>
          <a:xfrm>
            <a:off x="394700" y="1011825"/>
            <a:ext cx="2896623" cy="38621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nvSpPr>
        <p:spPr>
          <a:xfrm>
            <a:off x="6469825" y="460125"/>
            <a:ext cx="2518500" cy="184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de" sz="900">
                <a:latin typeface="Verdana"/>
                <a:ea typeface="Verdana"/>
                <a:cs typeface="Verdana"/>
                <a:sym typeface="Verdana"/>
              </a:rPr>
              <a:t>Am Stand haben wir uns die Zeit genommen, ausführlich auf Fragen und Anregungen einzugehen.Gerade die Frage der Präsentation zu Hause oder in den Ausstellungen war immer wieder Thema.</a:t>
            </a:r>
            <a:endParaRPr sz="900">
              <a:latin typeface="Verdana"/>
              <a:ea typeface="Verdana"/>
              <a:cs typeface="Verdana"/>
              <a:sym typeface="Verdana"/>
            </a:endParaRPr>
          </a:p>
          <a:p>
            <a:pPr indent="0" lvl="0" marL="0" rtl="0" algn="l">
              <a:spcBef>
                <a:spcPts val="0"/>
              </a:spcBef>
              <a:spcAft>
                <a:spcPts val="0"/>
              </a:spcAft>
              <a:buNone/>
            </a:pPr>
            <a:r>
              <a:rPr lang="de" sz="900">
                <a:latin typeface="Verdana"/>
                <a:ea typeface="Verdana"/>
                <a:cs typeface="Verdana"/>
                <a:sym typeface="Verdana"/>
              </a:rPr>
              <a:t>Alles in allem kam die NFT Sektion bei </a:t>
            </a:r>
            <a:endParaRPr sz="900">
              <a:latin typeface="Verdana"/>
              <a:ea typeface="Verdana"/>
              <a:cs typeface="Verdana"/>
              <a:sym typeface="Verdana"/>
            </a:endParaRPr>
          </a:p>
          <a:p>
            <a:pPr indent="0" lvl="0" marL="0" rtl="0" algn="l">
              <a:spcBef>
                <a:spcPts val="0"/>
              </a:spcBef>
              <a:spcAft>
                <a:spcPts val="0"/>
              </a:spcAft>
              <a:buNone/>
            </a:pPr>
            <a:r>
              <a:rPr lang="de" sz="900">
                <a:latin typeface="Verdana"/>
                <a:ea typeface="Verdana"/>
                <a:cs typeface="Verdana"/>
                <a:sym typeface="Verdana"/>
              </a:rPr>
              <a:t>den Besucher*innen sehr gut an. NFTs und Digitalkunst sind  </a:t>
            </a:r>
            <a:r>
              <a:rPr lang="de" sz="900">
                <a:latin typeface="Verdana"/>
                <a:ea typeface="Verdana"/>
                <a:cs typeface="Verdana"/>
                <a:sym typeface="Verdana"/>
              </a:rPr>
              <a:t>längst</a:t>
            </a:r>
            <a:r>
              <a:rPr lang="de" sz="900">
                <a:latin typeface="Verdana"/>
                <a:ea typeface="Verdana"/>
                <a:cs typeface="Verdana"/>
                <a:sym typeface="Verdana"/>
              </a:rPr>
              <a:t> nicht mehr nur ein Thema für Nerds, sondern wird jetzt auch bei langjährigen Kunstsammler*innen heiß diskutiert.</a:t>
            </a:r>
            <a:endParaRPr sz="900">
              <a:latin typeface="Verdana"/>
              <a:ea typeface="Verdana"/>
              <a:cs typeface="Verdana"/>
              <a:sym typeface="Verdana"/>
            </a:endParaRPr>
          </a:p>
        </p:txBody>
      </p:sp>
      <p:sp>
        <p:nvSpPr>
          <p:cNvPr id="99" name="Google Shape;99;p18"/>
          <p:cNvSpPr/>
          <p:nvPr/>
        </p:nvSpPr>
        <p:spPr>
          <a:xfrm>
            <a:off x="5920033" y="1351199"/>
            <a:ext cx="481800" cy="163800"/>
          </a:xfrm>
          <a:prstGeom prst="lef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 name="Google Shape;100;p18"/>
          <p:cNvPicPr preferRelativeResize="0"/>
          <p:nvPr/>
        </p:nvPicPr>
        <p:blipFill>
          <a:blip r:embed="rId3">
            <a:alphaModFix/>
          </a:blip>
          <a:stretch>
            <a:fillRect/>
          </a:stretch>
        </p:blipFill>
        <p:spPr>
          <a:xfrm>
            <a:off x="304800" y="491538"/>
            <a:ext cx="5547238" cy="4160429"/>
          </a:xfrm>
          <a:prstGeom prst="rect">
            <a:avLst/>
          </a:prstGeom>
          <a:noFill/>
          <a:ln>
            <a:noFill/>
          </a:ln>
        </p:spPr>
      </p:pic>
      <p:sp>
        <p:nvSpPr>
          <p:cNvPr id="101" name="Google Shape;101;p18"/>
          <p:cNvSpPr txBox="1"/>
          <p:nvPr/>
        </p:nvSpPr>
        <p:spPr>
          <a:xfrm>
            <a:off x="6469875" y="3634825"/>
            <a:ext cx="2518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solidFill>
                <a:schemeClr val="dk1"/>
              </a:solidFill>
              <a:latin typeface="Verdana"/>
              <a:ea typeface="Verdana"/>
              <a:cs typeface="Verdana"/>
              <a:sym typeface="Verdana"/>
            </a:endParaRPr>
          </a:p>
        </p:txBody>
      </p:sp>
      <p:sp>
        <p:nvSpPr>
          <p:cNvPr id="102" name="Google Shape;102;p18"/>
          <p:cNvSpPr txBox="1"/>
          <p:nvPr/>
        </p:nvSpPr>
        <p:spPr>
          <a:xfrm>
            <a:off x="6469825" y="3634825"/>
            <a:ext cx="2518500" cy="1015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de" sz="900">
                <a:solidFill>
                  <a:schemeClr val="dk1"/>
                </a:solidFill>
                <a:latin typeface="Verdana"/>
                <a:ea typeface="Verdana"/>
                <a:cs typeface="Verdana"/>
                <a:sym typeface="Verdana"/>
              </a:rPr>
              <a:t>Auch die Möglichkeit, dass sich die Besucher*innen setzen konnten, war ideal. Die stool-tools von Vitra konnten dazu anregen in ein längeres Gespräch zu kommen oder alle Eindrücke einfach mal auf sich wirken zu lassen.</a:t>
            </a:r>
            <a:endParaRPr sz="900">
              <a:latin typeface="Verdana"/>
              <a:ea typeface="Verdana"/>
              <a:cs typeface="Verdana"/>
              <a:sym typeface="Verdana"/>
            </a:endParaRPr>
          </a:p>
        </p:txBody>
      </p:sp>
      <p:sp>
        <p:nvSpPr>
          <p:cNvPr id="103" name="Google Shape;103;p18"/>
          <p:cNvSpPr/>
          <p:nvPr/>
        </p:nvSpPr>
        <p:spPr>
          <a:xfrm>
            <a:off x="5920046" y="3957924"/>
            <a:ext cx="481800" cy="163800"/>
          </a:xfrm>
          <a:prstGeom prst="leftArrow">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9" title="Abschlusspräsentation_Video.mov">
            <a:hlinkClick r:id="rId3"/>
          </p:cNvPr>
          <p:cNvPicPr preferRelativeResize="0"/>
          <p:nvPr/>
        </p:nvPicPr>
        <p:blipFill>
          <a:blip r:embed="rId4">
            <a:alphaModFix/>
          </a:blip>
          <a:stretch>
            <a:fillRect/>
          </a:stretch>
        </p:blipFill>
        <p:spPr>
          <a:xfrm>
            <a:off x="3766772" y="2503647"/>
            <a:ext cx="4176250" cy="2349124"/>
          </a:xfrm>
          <a:prstGeom prst="rect">
            <a:avLst/>
          </a:prstGeom>
          <a:noFill/>
          <a:ln>
            <a:noFill/>
          </a:ln>
        </p:spPr>
      </p:pic>
      <p:pic>
        <p:nvPicPr>
          <p:cNvPr id="109" name="Google Shape;109;p19"/>
          <p:cNvPicPr preferRelativeResize="0"/>
          <p:nvPr/>
        </p:nvPicPr>
        <p:blipFill>
          <a:blip r:embed="rId5">
            <a:alphaModFix/>
          </a:blip>
          <a:stretch>
            <a:fillRect/>
          </a:stretch>
        </p:blipFill>
        <p:spPr>
          <a:xfrm>
            <a:off x="241800" y="863475"/>
            <a:ext cx="2991974" cy="3989299"/>
          </a:xfrm>
          <a:prstGeom prst="rect">
            <a:avLst/>
          </a:prstGeom>
          <a:noFill/>
          <a:ln>
            <a:noFill/>
          </a:ln>
        </p:spPr>
      </p:pic>
      <p:sp>
        <p:nvSpPr>
          <p:cNvPr id="110" name="Google Shape;110;p19"/>
          <p:cNvSpPr txBox="1"/>
          <p:nvPr/>
        </p:nvSpPr>
        <p:spPr>
          <a:xfrm>
            <a:off x="171800" y="88750"/>
            <a:ext cx="5219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2800">
                <a:solidFill>
                  <a:schemeClr val="dk1"/>
                </a:solidFill>
                <a:latin typeface="Verdana"/>
                <a:ea typeface="Verdana"/>
                <a:cs typeface="Verdana"/>
                <a:sym typeface="Verdana"/>
              </a:rPr>
              <a:t>AUSSTELLUNGSANSICHTEN</a:t>
            </a:r>
            <a:endParaRPr sz="2800">
              <a:solidFill>
                <a:schemeClr val="dk1"/>
              </a:solidFill>
              <a:latin typeface="Verdana"/>
              <a:ea typeface="Verdana"/>
              <a:cs typeface="Verdana"/>
              <a:sym typeface="Verdan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0" title="IMG_0715.MOV">
            <a:hlinkClick r:id="rId3"/>
          </p:cNvPr>
          <p:cNvPicPr preferRelativeResize="0"/>
          <p:nvPr/>
        </p:nvPicPr>
        <p:blipFill>
          <a:blip r:embed="rId4">
            <a:alphaModFix/>
          </a:blip>
          <a:stretch>
            <a:fillRect/>
          </a:stretch>
        </p:blipFill>
        <p:spPr>
          <a:xfrm>
            <a:off x="152400" y="152400"/>
            <a:ext cx="2721767" cy="4838698"/>
          </a:xfrm>
          <a:prstGeom prst="rect">
            <a:avLst/>
          </a:prstGeom>
          <a:noFill/>
          <a:ln>
            <a:noFill/>
          </a:ln>
        </p:spPr>
      </p:pic>
      <p:pic>
        <p:nvPicPr>
          <p:cNvPr id="116" name="Google Shape;116;p20" title="IMG_0673.MOV">
            <a:hlinkClick r:id="rId5"/>
          </p:cNvPr>
          <p:cNvPicPr preferRelativeResize="0"/>
          <p:nvPr/>
        </p:nvPicPr>
        <p:blipFill>
          <a:blip r:embed="rId6">
            <a:alphaModFix/>
          </a:blip>
          <a:stretch>
            <a:fillRect/>
          </a:stretch>
        </p:blipFill>
        <p:spPr>
          <a:xfrm>
            <a:off x="3026567" y="152400"/>
            <a:ext cx="2721767" cy="4838698"/>
          </a:xfrm>
          <a:prstGeom prst="rect">
            <a:avLst/>
          </a:prstGeom>
          <a:noFill/>
          <a:ln>
            <a:noFill/>
          </a:ln>
        </p:spPr>
      </p:pic>
      <p:pic>
        <p:nvPicPr>
          <p:cNvPr id="117" name="Google Shape;117;p20" title="IMG_0525.MOV">
            <a:hlinkClick r:id="rId7"/>
          </p:cNvPr>
          <p:cNvPicPr preferRelativeResize="0"/>
          <p:nvPr/>
        </p:nvPicPr>
        <p:blipFill>
          <a:blip r:embed="rId8">
            <a:alphaModFix/>
          </a:blip>
          <a:stretch>
            <a:fillRect/>
          </a:stretch>
        </p:blipFill>
        <p:spPr>
          <a:xfrm>
            <a:off x="5900735" y="152400"/>
            <a:ext cx="2721767" cy="48386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